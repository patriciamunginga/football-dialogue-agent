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71" d="100"/>
          <a:sy n="71" d="100"/>
        </p:scale>
        <p:origin x="53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37F35-A987-4D75-9AB2-B1846B862E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211A79-01DB-476E-A67D-14FA54B790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3BAA2-86AF-4A5B-8A03-79A10C076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12AF-A942-46FE-85A0-B25971CC4D30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48FE1-DC32-40D1-B7CC-EC33ED72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2DD3D-33A8-487E-AF67-66B1C7FBC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4665-FCDB-43A0-AEA4-9DF13CBA0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1317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813EA-F986-41C0-833B-F5CE75A49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F99E4-9AA7-4C00-967F-FBB7DA44D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FFDE6-BE61-4A7D-80C5-45EE9A8BD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12AF-A942-46FE-85A0-B25971CC4D30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A855E-7E68-4BAE-85D5-DA6A74AC1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1C202-72E9-4695-B34C-4244499F6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4665-FCDB-43A0-AEA4-9DF13CBA0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7664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2E88E-DF4F-4001-94E9-C97BEE377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35B7F-6AD8-41C4-BEA2-EA1271B04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CDB90-52BD-4F00-B8E0-2BCAD0820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12AF-A942-46FE-85A0-B25971CC4D30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01691-FA1D-4C12-B967-A2DA767E8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01767-58BB-44C1-B120-C8837A7F2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4665-FCDB-43A0-AEA4-9DF13CBA0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410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990D4-D901-42D5-BEB0-6ACA11F93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B6B78-FE5D-4F71-A3EB-50E5817E8D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DFB460-A7EE-4A5D-9664-56F8DD3930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C3DBB1-E689-4E2C-8646-A388B5DF6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12AF-A942-46FE-85A0-B25971CC4D30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6976E-BA89-4304-89B9-D1E11DE74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489447-0B10-40C1-93F2-7A6E92808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4665-FCDB-43A0-AEA4-9DF13CBA0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74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7C5C-4BB4-4AF6-B1B4-951BF7A22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6D246-4D95-47B0-A673-4E6442A90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CB8F2A-EAA1-4AC3-ABFC-2A5993DC36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20A9C2-5866-43AB-B8EC-2D1BF269EC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63BAEE-AC80-40D3-B685-CC2C216355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AF9650-98AD-4F25-A262-587D09DDA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12AF-A942-46FE-85A0-B25971CC4D30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953041-1801-44ED-87BD-8D7C1BF1B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7C8044-DDE6-4251-9DC3-E94A14D67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4665-FCDB-43A0-AEA4-9DF13CBA0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8737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5CF14-567D-42BD-AB50-EA8775ECB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06B6BA-031F-44E5-A0D2-520199753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12AF-A942-46FE-85A0-B25971CC4D30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DAFC52-B7F8-436C-8E25-2F47C63F3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701D18-C9B4-4804-88CF-E9333E608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4665-FCDB-43A0-AEA4-9DF13CBA0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5470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82EB15-3E17-4A4F-BEFA-C3AC090BB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12AF-A942-46FE-85A0-B25971CC4D30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5B1F81-5427-4C24-A8D8-B64121AB3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8E13B-1766-4781-8C35-785BD9346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4665-FCDB-43A0-AEA4-9DF13CBA0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6039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B695B-7731-4A67-8446-F6EC28714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8A607-458C-4AD3-9A86-3E85423F6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F6F88-AC20-4BA0-963B-2128955009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4AB44-B675-4ACB-84A3-42AAEDFE3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12AF-A942-46FE-85A0-B25971CC4D30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66AEDF-F432-44F9-B870-FA77C1598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ED67E-DC61-4D82-9027-40BB8B017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4665-FCDB-43A0-AEA4-9DF13CBA0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1799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36431-38EF-4D94-BD40-E4A88E971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392337-67CD-4291-A576-BB1517E713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53C91C-5DEE-4ED6-A60D-6007E3FF8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87BA0-F4B5-4DF1-A3B6-13F3BA2C4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12AF-A942-46FE-85A0-B25971CC4D30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94F53D-A640-4DF2-B046-D2A6B6B7C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F90F4-D1CE-44C2-A3FD-C08D891C9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4665-FCDB-43A0-AEA4-9DF13CBA0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7250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B887C-55C3-4B02-B7A3-496A6EB22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0F8AD0-6B2D-4B81-B2B0-8C6E861607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0CD34-88FC-4E6E-8B6F-39F70F600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12AF-A942-46FE-85A0-B25971CC4D30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AEE48-C54C-4606-914A-D9F412957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A6581-EF50-43E6-A800-593E258D7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4665-FCDB-43A0-AEA4-9DF13CBA0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9957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F0FBBD-97C3-431E-9817-4A756CA61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D6DBCF-875D-4819-9DCE-E3758E37E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83657-1455-40B4-B1A2-0C188CFA7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12AF-A942-46FE-85A0-B25971CC4D30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7369E-EEF8-4608-9507-EB6D3F779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1F8CF-DAC4-468D-B06D-3D66C2E6C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4665-FCDB-43A0-AEA4-9DF13CBA0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372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853D2D-6CE2-4A5C-B5D8-663E06913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CD583-A059-495F-BF1C-891696459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32D11-FC5B-465A-88F4-930DC8BCB7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512AF-A942-46FE-85A0-B25971CC4D30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4B369-ED9C-4A28-BB74-D847977BA8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647A7-F43F-4403-A570-4872125B1D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B14665-FCDB-43A0-AEA4-9DF13CBA0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0917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CCB74-39A8-4C5D-BC93-7868F738D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NLU precision/recall – sample dialogue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47B-D018-4EF3-ACF2-29FEBE670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1118"/>
          </a:xfrm>
        </p:spPr>
        <p:txBody>
          <a:bodyPr>
            <a:normAutofit fontScale="55000" lnSpcReduction="20000"/>
          </a:bodyPr>
          <a:lstStyle/>
          <a:p>
            <a:r>
              <a:rPr lang="en-GB" dirty="0"/>
              <a:t>USER: I'd like to do something fun, please find some movies to see.</a:t>
            </a:r>
          </a:p>
          <a:p>
            <a:pPr lvl="1"/>
            <a:r>
              <a:rPr lang="en-GB" dirty="0" err="1"/>
              <a:t>FindMovies</a:t>
            </a:r>
            <a:r>
              <a:rPr lang="en-GB" dirty="0"/>
              <a:t>: true</a:t>
            </a:r>
          </a:p>
          <a:p>
            <a:pPr lvl="1"/>
            <a:r>
              <a:rPr lang="en-GB" dirty="0"/>
              <a:t>Slots: {}</a:t>
            </a:r>
          </a:p>
          <a:p>
            <a:r>
              <a:rPr lang="en-GB" dirty="0"/>
              <a:t>SYSTEM: I've found 10 results that match your criteria. How about the movie Missing Link. It has a reviewer rating of 7.0. Are you interested?</a:t>
            </a:r>
          </a:p>
          <a:p>
            <a:r>
              <a:rPr lang="en-GB" dirty="0"/>
              <a:t>USER: Please tell me who's starring in the film, as well as the genre.</a:t>
            </a:r>
          </a:p>
          <a:p>
            <a:pPr lvl="1"/>
            <a:r>
              <a:rPr lang="en-GB" dirty="0" err="1"/>
              <a:t>FindMovies</a:t>
            </a:r>
            <a:r>
              <a:rPr lang="en-GB" dirty="0"/>
              <a:t>: false</a:t>
            </a:r>
          </a:p>
          <a:p>
            <a:r>
              <a:rPr lang="en-GB" dirty="0"/>
              <a:t>SYSTEM: This movie is a comedy film that stars David Walliams.</a:t>
            </a:r>
          </a:p>
          <a:p>
            <a:r>
              <a:rPr lang="en-GB" dirty="0"/>
              <a:t>USER: Please find other results. I like movies directed by Martin Scorsese, and I also like seeing a documentary.</a:t>
            </a:r>
          </a:p>
          <a:p>
            <a:pPr lvl="1"/>
            <a:r>
              <a:rPr lang="en-GB" dirty="0" err="1"/>
              <a:t>FindMovies</a:t>
            </a:r>
            <a:r>
              <a:rPr lang="en-GB" dirty="0"/>
              <a:t>: true</a:t>
            </a:r>
          </a:p>
          <a:p>
            <a:pPr lvl="1"/>
            <a:r>
              <a:rPr lang="en-GB" dirty="0"/>
              <a:t>Slots: {director=Martin Scorsese, genre=documentary}</a:t>
            </a:r>
          </a:p>
          <a:p>
            <a:r>
              <a:rPr lang="en-GB" dirty="0"/>
              <a:t>SYSTEM: There is 1 movie that might interest you. It's a film called Shine a Light with a reviewer score of 7.2. Are you interested?</a:t>
            </a:r>
          </a:p>
          <a:p>
            <a:r>
              <a:rPr lang="en-GB" dirty="0"/>
              <a:t>USER: That sounds good.</a:t>
            </a:r>
          </a:p>
          <a:p>
            <a:pPr lvl="1"/>
            <a:r>
              <a:rPr lang="en-GB" dirty="0" err="1"/>
              <a:t>FindMovies</a:t>
            </a:r>
            <a:r>
              <a:rPr lang="en-GB" dirty="0"/>
              <a:t>: false</a:t>
            </a:r>
          </a:p>
          <a:p>
            <a:r>
              <a:rPr lang="en-GB" dirty="0"/>
              <a:t>SYSTEM: Do you require any further assistance?</a:t>
            </a:r>
          </a:p>
          <a:p>
            <a:r>
              <a:rPr lang="en-GB" dirty="0"/>
              <a:t>USER: No, that's all, thanks.</a:t>
            </a:r>
          </a:p>
          <a:p>
            <a:pPr lvl="1"/>
            <a:r>
              <a:rPr lang="en-GB" dirty="0" err="1"/>
              <a:t>FindMovies</a:t>
            </a:r>
            <a:r>
              <a:rPr lang="en-GB" dirty="0"/>
              <a:t>: false</a:t>
            </a:r>
          </a:p>
          <a:p>
            <a:r>
              <a:rPr lang="en-GB" dirty="0"/>
              <a:t>SYSTEM: Enjoy the rest of your day.</a:t>
            </a:r>
          </a:p>
        </p:txBody>
      </p:sp>
    </p:spTree>
    <p:extLst>
      <p:ext uri="{BB962C8B-B14F-4D97-AF65-F5344CB8AC3E}">
        <p14:creationId xmlns:p14="http://schemas.microsoft.com/office/powerpoint/2010/main" val="1287247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49F24-9653-4B5D-9648-DD77F3607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Turn by 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345FC-7DCF-4D47-8E36-12D34A40C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“I’d like to do something fun, please find some movies to see.”</a:t>
            </a:r>
          </a:p>
          <a:p>
            <a:r>
              <a:rPr lang="en-GB" dirty="0"/>
              <a:t>Gold-standard:</a:t>
            </a:r>
          </a:p>
          <a:p>
            <a:pPr lvl="1"/>
            <a:r>
              <a:rPr lang="en-GB" dirty="0" err="1"/>
              <a:t>FindMovies</a:t>
            </a:r>
            <a:r>
              <a:rPr lang="en-GB" dirty="0"/>
              <a:t>: true</a:t>
            </a:r>
          </a:p>
          <a:p>
            <a:pPr lvl="1"/>
            <a:r>
              <a:rPr lang="en-GB" dirty="0"/>
              <a:t>Slots: {}</a:t>
            </a:r>
          </a:p>
          <a:p>
            <a:r>
              <a:rPr lang="en-GB" dirty="0"/>
              <a:t>Predicted:</a:t>
            </a:r>
          </a:p>
          <a:p>
            <a:pPr lvl="1"/>
            <a:r>
              <a:rPr lang="en-GB" dirty="0" err="1"/>
              <a:t>FindMovie</a:t>
            </a:r>
            <a:r>
              <a:rPr lang="en-GB" dirty="0"/>
              <a:t>: true</a:t>
            </a:r>
          </a:p>
          <a:p>
            <a:pPr lvl="1"/>
            <a:r>
              <a:rPr lang="en-GB" dirty="0"/>
              <a:t>Slots: {genre: “fun”}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E1E5EF6-EDBB-4505-A407-7DA9F50253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878168"/>
              </p:ext>
            </p:extLst>
          </p:nvPr>
        </p:nvGraphicFramePr>
        <p:xfrm>
          <a:off x="7475516" y="93347"/>
          <a:ext cx="4616022" cy="1664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402">
                  <a:extLst>
                    <a:ext uri="{9D8B030D-6E8A-4147-A177-3AD203B41FA5}">
                      <a16:colId xmlns:a16="http://schemas.microsoft.com/office/drawing/2014/main" val="2584601421"/>
                    </a:ext>
                  </a:extLst>
                </a:gridCol>
                <a:gridCol w="827155">
                  <a:extLst>
                    <a:ext uri="{9D8B030D-6E8A-4147-A177-3AD203B41FA5}">
                      <a16:colId xmlns:a16="http://schemas.microsoft.com/office/drawing/2014/main" val="3937397248"/>
                    </a:ext>
                  </a:extLst>
                </a:gridCol>
                <a:gridCol w="827155">
                  <a:extLst>
                    <a:ext uri="{9D8B030D-6E8A-4147-A177-3AD203B41FA5}">
                      <a16:colId xmlns:a16="http://schemas.microsoft.com/office/drawing/2014/main" val="3267835528"/>
                    </a:ext>
                  </a:extLst>
                </a:gridCol>
                <a:gridCol w="827155">
                  <a:extLst>
                    <a:ext uri="{9D8B030D-6E8A-4147-A177-3AD203B41FA5}">
                      <a16:colId xmlns:a16="http://schemas.microsoft.com/office/drawing/2014/main" val="616591105"/>
                    </a:ext>
                  </a:extLst>
                </a:gridCol>
                <a:gridCol w="827155">
                  <a:extLst>
                    <a:ext uri="{9D8B030D-6E8A-4147-A177-3AD203B41FA5}">
                      <a16:colId xmlns:a16="http://schemas.microsoft.com/office/drawing/2014/main" val="462327654"/>
                    </a:ext>
                  </a:extLst>
                </a:gridCol>
              </a:tblGrid>
              <a:tr h="332962"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FN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287867"/>
                  </a:ext>
                </a:extLst>
              </a:tr>
              <a:tr h="332962">
                <a:tc>
                  <a:txBody>
                    <a:bodyPr/>
                    <a:lstStyle/>
                    <a:p>
                      <a:r>
                        <a:rPr lang="en-GB" sz="1400" dirty="0" err="1"/>
                        <a:t>FindMovies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844107"/>
                  </a:ext>
                </a:extLst>
              </a:tr>
              <a:tr h="332962">
                <a:tc>
                  <a:txBody>
                    <a:bodyPr/>
                    <a:lstStyle/>
                    <a:p>
                      <a:r>
                        <a:rPr lang="en-GB" sz="1400" dirty="0"/>
                        <a:t>Starring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02972"/>
                  </a:ext>
                </a:extLst>
              </a:tr>
              <a:tr h="332962">
                <a:tc>
                  <a:txBody>
                    <a:bodyPr/>
                    <a:lstStyle/>
                    <a:p>
                      <a:r>
                        <a:rPr lang="en-GB" sz="1400" dirty="0"/>
                        <a:t>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62427"/>
                  </a:ext>
                </a:extLst>
              </a:tr>
              <a:tr h="332962">
                <a:tc>
                  <a:txBody>
                    <a:bodyPr/>
                    <a:lstStyle/>
                    <a:p>
                      <a:r>
                        <a:rPr lang="en-GB" sz="1400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7524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0585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49F24-9653-4B5D-9648-DD77F3607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Turn by 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345FC-7DCF-4D47-8E36-12D34A40C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“Please tell me who's starring in the film, as well as the genre.”</a:t>
            </a:r>
          </a:p>
          <a:p>
            <a:r>
              <a:rPr lang="en-GB" dirty="0"/>
              <a:t>Gold-standard:</a:t>
            </a:r>
          </a:p>
          <a:p>
            <a:pPr lvl="1"/>
            <a:r>
              <a:rPr lang="en-GB" dirty="0" err="1"/>
              <a:t>FindMovies</a:t>
            </a:r>
            <a:r>
              <a:rPr lang="en-GB" dirty="0"/>
              <a:t>: false</a:t>
            </a:r>
          </a:p>
          <a:p>
            <a:r>
              <a:rPr lang="en-GB" dirty="0"/>
              <a:t>Predicted:</a:t>
            </a:r>
          </a:p>
          <a:p>
            <a:pPr lvl="1"/>
            <a:r>
              <a:rPr lang="en-GB" dirty="0" err="1"/>
              <a:t>FindMovies</a:t>
            </a:r>
            <a:r>
              <a:rPr lang="en-GB" dirty="0"/>
              <a:t>: true</a:t>
            </a:r>
          </a:p>
          <a:p>
            <a:pPr lvl="1"/>
            <a:r>
              <a:rPr lang="en-GB" dirty="0"/>
              <a:t>Slots: {}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E1E5EF6-EDBB-4505-A407-7DA9F50253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452256"/>
              </p:ext>
            </p:extLst>
          </p:nvPr>
        </p:nvGraphicFramePr>
        <p:xfrm>
          <a:off x="7475516" y="93347"/>
          <a:ext cx="4616022" cy="1664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402">
                  <a:extLst>
                    <a:ext uri="{9D8B030D-6E8A-4147-A177-3AD203B41FA5}">
                      <a16:colId xmlns:a16="http://schemas.microsoft.com/office/drawing/2014/main" val="2584601421"/>
                    </a:ext>
                  </a:extLst>
                </a:gridCol>
                <a:gridCol w="827155">
                  <a:extLst>
                    <a:ext uri="{9D8B030D-6E8A-4147-A177-3AD203B41FA5}">
                      <a16:colId xmlns:a16="http://schemas.microsoft.com/office/drawing/2014/main" val="3937397248"/>
                    </a:ext>
                  </a:extLst>
                </a:gridCol>
                <a:gridCol w="827155">
                  <a:extLst>
                    <a:ext uri="{9D8B030D-6E8A-4147-A177-3AD203B41FA5}">
                      <a16:colId xmlns:a16="http://schemas.microsoft.com/office/drawing/2014/main" val="3267835528"/>
                    </a:ext>
                  </a:extLst>
                </a:gridCol>
                <a:gridCol w="827155">
                  <a:extLst>
                    <a:ext uri="{9D8B030D-6E8A-4147-A177-3AD203B41FA5}">
                      <a16:colId xmlns:a16="http://schemas.microsoft.com/office/drawing/2014/main" val="616591105"/>
                    </a:ext>
                  </a:extLst>
                </a:gridCol>
                <a:gridCol w="827155">
                  <a:extLst>
                    <a:ext uri="{9D8B030D-6E8A-4147-A177-3AD203B41FA5}">
                      <a16:colId xmlns:a16="http://schemas.microsoft.com/office/drawing/2014/main" val="462327654"/>
                    </a:ext>
                  </a:extLst>
                </a:gridCol>
              </a:tblGrid>
              <a:tr h="332962"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FN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287867"/>
                  </a:ext>
                </a:extLst>
              </a:tr>
              <a:tr h="332962">
                <a:tc>
                  <a:txBody>
                    <a:bodyPr/>
                    <a:lstStyle/>
                    <a:p>
                      <a:r>
                        <a:rPr lang="en-GB" sz="1400" dirty="0" err="1"/>
                        <a:t>FindMovies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844107"/>
                  </a:ext>
                </a:extLst>
              </a:tr>
              <a:tr h="332962">
                <a:tc>
                  <a:txBody>
                    <a:bodyPr/>
                    <a:lstStyle/>
                    <a:p>
                      <a:r>
                        <a:rPr lang="en-GB" sz="1400" dirty="0"/>
                        <a:t>Starring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02972"/>
                  </a:ext>
                </a:extLst>
              </a:tr>
              <a:tr h="332962">
                <a:tc>
                  <a:txBody>
                    <a:bodyPr/>
                    <a:lstStyle/>
                    <a:p>
                      <a:r>
                        <a:rPr lang="en-GB" sz="1400" dirty="0"/>
                        <a:t>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62427"/>
                  </a:ext>
                </a:extLst>
              </a:tr>
              <a:tr h="332962">
                <a:tc>
                  <a:txBody>
                    <a:bodyPr/>
                    <a:lstStyle/>
                    <a:p>
                      <a:r>
                        <a:rPr lang="en-GB" sz="1400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7524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6068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49F24-9653-4B5D-9648-DD77F3607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Turn by 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345FC-7DCF-4D47-8E36-12D34A40C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“Please find other results. I like movies directed by Martin Scorsese, and I also like seeing a documentary.”</a:t>
            </a:r>
          </a:p>
          <a:p>
            <a:r>
              <a:rPr lang="en-GB" dirty="0"/>
              <a:t>Gold-standard:</a:t>
            </a:r>
          </a:p>
          <a:p>
            <a:pPr lvl="1"/>
            <a:r>
              <a:rPr lang="en-GB" dirty="0" err="1"/>
              <a:t>FindMovies</a:t>
            </a:r>
            <a:r>
              <a:rPr lang="en-GB" dirty="0"/>
              <a:t>: true</a:t>
            </a:r>
          </a:p>
          <a:p>
            <a:pPr lvl="1"/>
            <a:r>
              <a:rPr lang="en-GB" dirty="0"/>
              <a:t>Slots: {director: “Martin Scorsese”, genre: “documentary”}</a:t>
            </a:r>
          </a:p>
          <a:p>
            <a:r>
              <a:rPr lang="en-GB" dirty="0"/>
              <a:t>Predicted:</a:t>
            </a:r>
          </a:p>
          <a:p>
            <a:pPr lvl="1"/>
            <a:r>
              <a:rPr lang="en-GB" dirty="0" err="1"/>
              <a:t>FindMovies</a:t>
            </a:r>
            <a:r>
              <a:rPr lang="en-GB" dirty="0"/>
              <a:t>: true</a:t>
            </a:r>
          </a:p>
          <a:p>
            <a:pPr lvl="1"/>
            <a:r>
              <a:rPr lang="en-GB" dirty="0"/>
              <a:t>Slots: {director: “Patty Jenkins”, genre: “documentary”}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E1E5EF6-EDBB-4505-A407-7DA9F50253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433171"/>
              </p:ext>
            </p:extLst>
          </p:nvPr>
        </p:nvGraphicFramePr>
        <p:xfrm>
          <a:off x="7475516" y="93347"/>
          <a:ext cx="4616022" cy="1664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402">
                  <a:extLst>
                    <a:ext uri="{9D8B030D-6E8A-4147-A177-3AD203B41FA5}">
                      <a16:colId xmlns:a16="http://schemas.microsoft.com/office/drawing/2014/main" val="2584601421"/>
                    </a:ext>
                  </a:extLst>
                </a:gridCol>
                <a:gridCol w="827155">
                  <a:extLst>
                    <a:ext uri="{9D8B030D-6E8A-4147-A177-3AD203B41FA5}">
                      <a16:colId xmlns:a16="http://schemas.microsoft.com/office/drawing/2014/main" val="3937397248"/>
                    </a:ext>
                  </a:extLst>
                </a:gridCol>
                <a:gridCol w="827155">
                  <a:extLst>
                    <a:ext uri="{9D8B030D-6E8A-4147-A177-3AD203B41FA5}">
                      <a16:colId xmlns:a16="http://schemas.microsoft.com/office/drawing/2014/main" val="3267835528"/>
                    </a:ext>
                  </a:extLst>
                </a:gridCol>
                <a:gridCol w="827155">
                  <a:extLst>
                    <a:ext uri="{9D8B030D-6E8A-4147-A177-3AD203B41FA5}">
                      <a16:colId xmlns:a16="http://schemas.microsoft.com/office/drawing/2014/main" val="616591105"/>
                    </a:ext>
                  </a:extLst>
                </a:gridCol>
                <a:gridCol w="827155">
                  <a:extLst>
                    <a:ext uri="{9D8B030D-6E8A-4147-A177-3AD203B41FA5}">
                      <a16:colId xmlns:a16="http://schemas.microsoft.com/office/drawing/2014/main" val="462327654"/>
                    </a:ext>
                  </a:extLst>
                </a:gridCol>
              </a:tblGrid>
              <a:tr h="332962"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FN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287867"/>
                  </a:ext>
                </a:extLst>
              </a:tr>
              <a:tr h="332962">
                <a:tc>
                  <a:txBody>
                    <a:bodyPr/>
                    <a:lstStyle/>
                    <a:p>
                      <a:r>
                        <a:rPr lang="en-GB" sz="1400" dirty="0" err="1"/>
                        <a:t>FindMovies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844107"/>
                  </a:ext>
                </a:extLst>
              </a:tr>
              <a:tr h="332962">
                <a:tc>
                  <a:txBody>
                    <a:bodyPr/>
                    <a:lstStyle/>
                    <a:p>
                      <a:r>
                        <a:rPr lang="en-GB" sz="1400" dirty="0"/>
                        <a:t>Starring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02972"/>
                  </a:ext>
                </a:extLst>
              </a:tr>
              <a:tr h="332962">
                <a:tc>
                  <a:txBody>
                    <a:bodyPr/>
                    <a:lstStyle/>
                    <a:p>
                      <a:r>
                        <a:rPr lang="en-GB" sz="1400" dirty="0"/>
                        <a:t>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62427"/>
                  </a:ext>
                </a:extLst>
              </a:tr>
              <a:tr h="332962">
                <a:tc>
                  <a:txBody>
                    <a:bodyPr/>
                    <a:lstStyle/>
                    <a:p>
                      <a:r>
                        <a:rPr lang="en-GB" sz="1400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7524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4712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49F24-9653-4B5D-9648-DD77F3607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Turn by 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345FC-7DCF-4D47-8E36-12D34A40C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“That sounds good.”</a:t>
            </a:r>
          </a:p>
          <a:p>
            <a:r>
              <a:rPr lang="en-GB" dirty="0"/>
              <a:t>Gold-standard:</a:t>
            </a:r>
          </a:p>
          <a:p>
            <a:pPr lvl="1"/>
            <a:r>
              <a:rPr lang="en-GB" dirty="0" err="1"/>
              <a:t>FindMovies</a:t>
            </a:r>
            <a:r>
              <a:rPr lang="en-GB" dirty="0"/>
              <a:t>: false</a:t>
            </a:r>
          </a:p>
          <a:p>
            <a:r>
              <a:rPr lang="en-GB" dirty="0"/>
              <a:t>Predicted:</a:t>
            </a:r>
          </a:p>
          <a:p>
            <a:pPr lvl="1"/>
            <a:r>
              <a:rPr lang="en-GB" dirty="0" err="1"/>
              <a:t>FindMovies</a:t>
            </a:r>
            <a:r>
              <a:rPr lang="en-GB" dirty="0"/>
              <a:t>: false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E1E5EF6-EDBB-4505-A407-7DA9F50253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3102548"/>
              </p:ext>
            </p:extLst>
          </p:nvPr>
        </p:nvGraphicFramePr>
        <p:xfrm>
          <a:off x="7475516" y="93347"/>
          <a:ext cx="4616022" cy="1664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402">
                  <a:extLst>
                    <a:ext uri="{9D8B030D-6E8A-4147-A177-3AD203B41FA5}">
                      <a16:colId xmlns:a16="http://schemas.microsoft.com/office/drawing/2014/main" val="2584601421"/>
                    </a:ext>
                  </a:extLst>
                </a:gridCol>
                <a:gridCol w="827155">
                  <a:extLst>
                    <a:ext uri="{9D8B030D-6E8A-4147-A177-3AD203B41FA5}">
                      <a16:colId xmlns:a16="http://schemas.microsoft.com/office/drawing/2014/main" val="3937397248"/>
                    </a:ext>
                  </a:extLst>
                </a:gridCol>
                <a:gridCol w="827155">
                  <a:extLst>
                    <a:ext uri="{9D8B030D-6E8A-4147-A177-3AD203B41FA5}">
                      <a16:colId xmlns:a16="http://schemas.microsoft.com/office/drawing/2014/main" val="3267835528"/>
                    </a:ext>
                  </a:extLst>
                </a:gridCol>
                <a:gridCol w="827155">
                  <a:extLst>
                    <a:ext uri="{9D8B030D-6E8A-4147-A177-3AD203B41FA5}">
                      <a16:colId xmlns:a16="http://schemas.microsoft.com/office/drawing/2014/main" val="616591105"/>
                    </a:ext>
                  </a:extLst>
                </a:gridCol>
                <a:gridCol w="827155">
                  <a:extLst>
                    <a:ext uri="{9D8B030D-6E8A-4147-A177-3AD203B41FA5}">
                      <a16:colId xmlns:a16="http://schemas.microsoft.com/office/drawing/2014/main" val="462327654"/>
                    </a:ext>
                  </a:extLst>
                </a:gridCol>
              </a:tblGrid>
              <a:tr h="332962"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FN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287867"/>
                  </a:ext>
                </a:extLst>
              </a:tr>
              <a:tr h="332962">
                <a:tc>
                  <a:txBody>
                    <a:bodyPr/>
                    <a:lstStyle/>
                    <a:p>
                      <a:r>
                        <a:rPr lang="en-GB" sz="1400" dirty="0" err="1"/>
                        <a:t>FindMovies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844107"/>
                  </a:ext>
                </a:extLst>
              </a:tr>
              <a:tr h="332962">
                <a:tc>
                  <a:txBody>
                    <a:bodyPr/>
                    <a:lstStyle/>
                    <a:p>
                      <a:r>
                        <a:rPr lang="en-GB" sz="1400" dirty="0"/>
                        <a:t>Starring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02972"/>
                  </a:ext>
                </a:extLst>
              </a:tr>
              <a:tr h="332962">
                <a:tc>
                  <a:txBody>
                    <a:bodyPr/>
                    <a:lstStyle/>
                    <a:p>
                      <a:r>
                        <a:rPr lang="en-GB" sz="1400" dirty="0"/>
                        <a:t>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62427"/>
                  </a:ext>
                </a:extLst>
              </a:tr>
              <a:tr h="332962">
                <a:tc>
                  <a:txBody>
                    <a:bodyPr/>
                    <a:lstStyle/>
                    <a:p>
                      <a:r>
                        <a:rPr lang="en-GB" sz="1400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7524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7201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49F24-9653-4B5D-9648-DD77F3607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Turn by 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345FC-7DCF-4D47-8E36-12D34A40C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“No, that's all, thanks.”</a:t>
            </a:r>
          </a:p>
          <a:p>
            <a:r>
              <a:rPr lang="en-GB" dirty="0"/>
              <a:t>Gold-standard:</a:t>
            </a:r>
          </a:p>
          <a:p>
            <a:pPr lvl="1"/>
            <a:r>
              <a:rPr lang="en-GB" dirty="0" err="1"/>
              <a:t>FindMovies</a:t>
            </a:r>
            <a:r>
              <a:rPr lang="en-GB" dirty="0"/>
              <a:t>: false</a:t>
            </a:r>
          </a:p>
          <a:p>
            <a:r>
              <a:rPr lang="en-GB" dirty="0"/>
              <a:t>Predicted:</a:t>
            </a:r>
          </a:p>
          <a:p>
            <a:pPr lvl="1"/>
            <a:r>
              <a:rPr lang="en-GB" dirty="0" err="1"/>
              <a:t>FindMovies</a:t>
            </a:r>
            <a:r>
              <a:rPr lang="en-GB" dirty="0"/>
              <a:t>: false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E1E5EF6-EDBB-4505-A407-7DA9F50253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59460"/>
              </p:ext>
            </p:extLst>
          </p:nvPr>
        </p:nvGraphicFramePr>
        <p:xfrm>
          <a:off x="7475516" y="93347"/>
          <a:ext cx="4616022" cy="1664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402">
                  <a:extLst>
                    <a:ext uri="{9D8B030D-6E8A-4147-A177-3AD203B41FA5}">
                      <a16:colId xmlns:a16="http://schemas.microsoft.com/office/drawing/2014/main" val="2584601421"/>
                    </a:ext>
                  </a:extLst>
                </a:gridCol>
                <a:gridCol w="827155">
                  <a:extLst>
                    <a:ext uri="{9D8B030D-6E8A-4147-A177-3AD203B41FA5}">
                      <a16:colId xmlns:a16="http://schemas.microsoft.com/office/drawing/2014/main" val="3937397248"/>
                    </a:ext>
                  </a:extLst>
                </a:gridCol>
                <a:gridCol w="827155">
                  <a:extLst>
                    <a:ext uri="{9D8B030D-6E8A-4147-A177-3AD203B41FA5}">
                      <a16:colId xmlns:a16="http://schemas.microsoft.com/office/drawing/2014/main" val="3267835528"/>
                    </a:ext>
                  </a:extLst>
                </a:gridCol>
                <a:gridCol w="827155">
                  <a:extLst>
                    <a:ext uri="{9D8B030D-6E8A-4147-A177-3AD203B41FA5}">
                      <a16:colId xmlns:a16="http://schemas.microsoft.com/office/drawing/2014/main" val="616591105"/>
                    </a:ext>
                  </a:extLst>
                </a:gridCol>
                <a:gridCol w="827155">
                  <a:extLst>
                    <a:ext uri="{9D8B030D-6E8A-4147-A177-3AD203B41FA5}">
                      <a16:colId xmlns:a16="http://schemas.microsoft.com/office/drawing/2014/main" val="462327654"/>
                    </a:ext>
                  </a:extLst>
                </a:gridCol>
              </a:tblGrid>
              <a:tr h="332962"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FN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287867"/>
                  </a:ext>
                </a:extLst>
              </a:tr>
              <a:tr h="332962">
                <a:tc>
                  <a:txBody>
                    <a:bodyPr/>
                    <a:lstStyle/>
                    <a:p>
                      <a:r>
                        <a:rPr lang="en-GB" sz="1400" dirty="0" err="1"/>
                        <a:t>FindMovies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844107"/>
                  </a:ext>
                </a:extLst>
              </a:tr>
              <a:tr h="332962">
                <a:tc>
                  <a:txBody>
                    <a:bodyPr/>
                    <a:lstStyle/>
                    <a:p>
                      <a:r>
                        <a:rPr lang="en-GB" sz="1400" dirty="0"/>
                        <a:t>Starring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02972"/>
                  </a:ext>
                </a:extLst>
              </a:tr>
              <a:tr h="332962">
                <a:tc>
                  <a:txBody>
                    <a:bodyPr/>
                    <a:lstStyle/>
                    <a:p>
                      <a:r>
                        <a:rPr lang="en-GB" sz="1400" dirty="0"/>
                        <a:t>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62427"/>
                  </a:ext>
                </a:extLst>
              </a:tr>
              <a:tr h="332962">
                <a:tc>
                  <a:txBody>
                    <a:bodyPr/>
                    <a:lstStyle/>
                    <a:p>
                      <a:r>
                        <a:rPr lang="en-GB" sz="1400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7524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6988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EF523-19F7-4734-9E0A-CCC16D473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table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EE6CEC6-8A4B-436C-9629-311D8D3A45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5154874"/>
              </p:ext>
            </p:extLst>
          </p:nvPr>
        </p:nvGraphicFramePr>
        <p:xfrm>
          <a:off x="838200" y="1825625"/>
          <a:ext cx="1051560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131835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3445876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3768491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5913608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8286814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FN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002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3200" dirty="0" err="1"/>
                        <a:t>FindMovies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681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3200" dirty="0"/>
                        <a:t>Starring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452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3200" dirty="0"/>
                        <a:t>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182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3200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967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3221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D9D1F-1455-4140-987E-54DEFCEEA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Computing metrics for intent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B574F-6719-4212-BB87-DB07BF0F9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Precision: TP / (TP + FP)</a:t>
            </a:r>
          </a:p>
          <a:p>
            <a:pPr lvl="1"/>
            <a:r>
              <a:rPr lang="en-GB" dirty="0"/>
              <a:t>2 / (2 + 1)</a:t>
            </a:r>
          </a:p>
          <a:p>
            <a:pPr lvl="1"/>
            <a:r>
              <a:rPr lang="en-GB" dirty="0"/>
              <a:t>0.67</a:t>
            </a:r>
          </a:p>
          <a:p>
            <a:r>
              <a:rPr lang="en-GB" dirty="0"/>
              <a:t>Recall: TP / (TP + FN)</a:t>
            </a:r>
          </a:p>
          <a:p>
            <a:pPr lvl="1"/>
            <a:r>
              <a:rPr lang="en-GB" dirty="0"/>
              <a:t>2 / (2 + 0)</a:t>
            </a:r>
          </a:p>
          <a:p>
            <a:pPr lvl="1"/>
            <a:r>
              <a:rPr lang="en-GB" dirty="0"/>
              <a:t>1.0</a:t>
            </a:r>
          </a:p>
          <a:p>
            <a:r>
              <a:rPr lang="en-GB" dirty="0"/>
              <a:t>F1: (2 * P * R) / (P + R)</a:t>
            </a:r>
          </a:p>
          <a:p>
            <a:pPr lvl="1"/>
            <a:r>
              <a:rPr lang="en-GB" dirty="0"/>
              <a:t>(2 * .67 * 1.0) / (0.67 + 1.0)</a:t>
            </a:r>
          </a:p>
          <a:p>
            <a:pPr lvl="1"/>
            <a:r>
              <a:rPr lang="en-GB" dirty="0"/>
              <a:t>0.80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9E626859-6D76-45B1-A29D-8BC53583A6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607642"/>
              </p:ext>
            </p:extLst>
          </p:nvPr>
        </p:nvGraphicFramePr>
        <p:xfrm>
          <a:off x="7475516" y="93347"/>
          <a:ext cx="4616022" cy="1664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402">
                  <a:extLst>
                    <a:ext uri="{9D8B030D-6E8A-4147-A177-3AD203B41FA5}">
                      <a16:colId xmlns:a16="http://schemas.microsoft.com/office/drawing/2014/main" val="2584601421"/>
                    </a:ext>
                  </a:extLst>
                </a:gridCol>
                <a:gridCol w="827155">
                  <a:extLst>
                    <a:ext uri="{9D8B030D-6E8A-4147-A177-3AD203B41FA5}">
                      <a16:colId xmlns:a16="http://schemas.microsoft.com/office/drawing/2014/main" val="3937397248"/>
                    </a:ext>
                  </a:extLst>
                </a:gridCol>
                <a:gridCol w="827155">
                  <a:extLst>
                    <a:ext uri="{9D8B030D-6E8A-4147-A177-3AD203B41FA5}">
                      <a16:colId xmlns:a16="http://schemas.microsoft.com/office/drawing/2014/main" val="3267835528"/>
                    </a:ext>
                  </a:extLst>
                </a:gridCol>
                <a:gridCol w="827155">
                  <a:extLst>
                    <a:ext uri="{9D8B030D-6E8A-4147-A177-3AD203B41FA5}">
                      <a16:colId xmlns:a16="http://schemas.microsoft.com/office/drawing/2014/main" val="616591105"/>
                    </a:ext>
                  </a:extLst>
                </a:gridCol>
                <a:gridCol w="827155">
                  <a:extLst>
                    <a:ext uri="{9D8B030D-6E8A-4147-A177-3AD203B41FA5}">
                      <a16:colId xmlns:a16="http://schemas.microsoft.com/office/drawing/2014/main" val="462327654"/>
                    </a:ext>
                  </a:extLst>
                </a:gridCol>
              </a:tblGrid>
              <a:tr h="332962"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FN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287867"/>
                  </a:ext>
                </a:extLst>
              </a:tr>
              <a:tr h="332962">
                <a:tc>
                  <a:txBody>
                    <a:bodyPr/>
                    <a:lstStyle/>
                    <a:p>
                      <a:r>
                        <a:rPr lang="en-GB" sz="1400" b="1" dirty="0" err="1"/>
                        <a:t>FindMovies</a:t>
                      </a:r>
                      <a:endParaRPr lang="en-GB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844107"/>
                  </a:ext>
                </a:extLst>
              </a:tr>
              <a:tr h="332962">
                <a:tc>
                  <a:txBody>
                    <a:bodyPr/>
                    <a:lstStyle/>
                    <a:p>
                      <a:r>
                        <a:rPr lang="en-GB" sz="1400" dirty="0"/>
                        <a:t>Starring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02972"/>
                  </a:ext>
                </a:extLst>
              </a:tr>
              <a:tr h="332962">
                <a:tc>
                  <a:txBody>
                    <a:bodyPr/>
                    <a:lstStyle/>
                    <a:p>
                      <a:r>
                        <a:rPr lang="en-GB" sz="1400" dirty="0"/>
                        <a:t>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62427"/>
                  </a:ext>
                </a:extLst>
              </a:tr>
              <a:tr h="332962">
                <a:tc>
                  <a:txBody>
                    <a:bodyPr/>
                    <a:lstStyle/>
                    <a:p>
                      <a:r>
                        <a:rPr lang="en-GB" sz="1400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7524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6003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28BAC-5655-4B96-BB2D-F3A9B86A5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530439" cy="1325563"/>
          </a:xfrm>
        </p:spPr>
        <p:txBody>
          <a:bodyPr/>
          <a:lstStyle/>
          <a:p>
            <a:r>
              <a:rPr lang="en-GB" dirty="0"/>
              <a:t>Computing metrics for slots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BA592-1F9C-4904-9392-15717C386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Precision: TP / (TP + FP)</a:t>
            </a:r>
          </a:p>
          <a:p>
            <a:pPr lvl="1"/>
            <a:r>
              <a:rPr lang="en-GB" dirty="0"/>
              <a:t>1 / (1 + 1)</a:t>
            </a:r>
          </a:p>
          <a:p>
            <a:pPr lvl="1"/>
            <a:r>
              <a:rPr lang="en-GB" dirty="0"/>
              <a:t>0.5</a:t>
            </a:r>
          </a:p>
          <a:p>
            <a:r>
              <a:rPr lang="en-GB" dirty="0"/>
              <a:t>Recall: TP / (TP + FN)</a:t>
            </a:r>
          </a:p>
          <a:p>
            <a:pPr lvl="1"/>
            <a:r>
              <a:rPr lang="en-GB" dirty="0"/>
              <a:t>1 / (1 + 1)</a:t>
            </a:r>
          </a:p>
          <a:p>
            <a:pPr lvl="1"/>
            <a:r>
              <a:rPr lang="en-GB" dirty="0"/>
              <a:t>0.5</a:t>
            </a:r>
          </a:p>
          <a:p>
            <a:r>
              <a:rPr lang="en-GB" dirty="0"/>
              <a:t>F1: (2 * P * R) / (P + R)</a:t>
            </a:r>
          </a:p>
          <a:p>
            <a:pPr lvl="1"/>
            <a:r>
              <a:rPr lang="en-GB" dirty="0"/>
              <a:t>(2 * 0.5 * 0.5) / (0.5 + 0.5)</a:t>
            </a:r>
          </a:p>
          <a:p>
            <a:pPr lvl="1"/>
            <a:r>
              <a:rPr lang="en-GB" dirty="0"/>
              <a:t>0.5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9FFF936-4986-4A91-B3B6-46C5F02D0B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144402"/>
              </p:ext>
            </p:extLst>
          </p:nvPr>
        </p:nvGraphicFramePr>
        <p:xfrm>
          <a:off x="7475516" y="93347"/>
          <a:ext cx="4616022" cy="1664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402">
                  <a:extLst>
                    <a:ext uri="{9D8B030D-6E8A-4147-A177-3AD203B41FA5}">
                      <a16:colId xmlns:a16="http://schemas.microsoft.com/office/drawing/2014/main" val="2584601421"/>
                    </a:ext>
                  </a:extLst>
                </a:gridCol>
                <a:gridCol w="827155">
                  <a:extLst>
                    <a:ext uri="{9D8B030D-6E8A-4147-A177-3AD203B41FA5}">
                      <a16:colId xmlns:a16="http://schemas.microsoft.com/office/drawing/2014/main" val="3937397248"/>
                    </a:ext>
                  </a:extLst>
                </a:gridCol>
                <a:gridCol w="827155">
                  <a:extLst>
                    <a:ext uri="{9D8B030D-6E8A-4147-A177-3AD203B41FA5}">
                      <a16:colId xmlns:a16="http://schemas.microsoft.com/office/drawing/2014/main" val="3267835528"/>
                    </a:ext>
                  </a:extLst>
                </a:gridCol>
                <a:gridCol w="827155">
                  <a:extLst>
                    <a:ext uri="{9D8B030D-6E8A-4147-A177-3AD203B41FA5}">
                      <a16:colId xmlns:a16="http://schemas.microsoft.com/office/drawing/2014/main" val="616591105"/>
                    </a:ext>
                  </a:extLst>
                </a:gridCol>
                <a:gridCol w="827155">
                  <a:extLst>
                    <a:ext uri="{9D8B030D-6E8A-4147-A177-3AD203B41FA5}">
                      <a16:colId xmlns:a16="http://schemas.microsoft.com/office/drawing/2014/main" val="462327654"/>
                    </a:ext>
                  </a:extLst>
                </a:gridCol>
              </a:tblGrid>
              <a:tr h="332962"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FN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287867"/>
                  </a:ext>
                </a:extLst>
              </a:tr>
              <a:tr h="332962">
                <a:tc>
                  <a:txBody>
                    <a:bodyPr/>
                    <a:lstStyle/>
                    <a:p>
                      <a:r>
                        <a:rPr lang="en-GB" sz="1400" dirty="0" err="1"/>
                        <a:t>FindMovies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844107"/>
                  </a:ext>
                </a:extLst>
              </a:tr>
              <a:tr h="332962">
                <a:tc>
                  <a:txBody>
                    <a:bodyPr/>
                    <a:lstStyle/>
                    <a:p>
                      <a:r>
                        <a:rPr lang="en-GB" sz="1400" b="1" dirty="0"/>
                        <a:t>Starring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02972"/>
                  </a:ext>
                </a:extLst>
              </a:tr>
              <a:tr h="332962">
                <a:tc>
                  <a:txBody>
                    <a:bodyPr/>
                    <a:lstStyle/>
                    <a:p>
                      <a:r>
                        <a:rPr lang="en-GB" sz="1400" b="1" dirty="0"/>
                        <a:t>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62427"/>
                  </a:ext>
                </a:extLst>
              </a:tr>
              <a:tr h="332962">
                <a:tc>
                  <a:txBody>
                    <a:bodyPr/>
                    <a:lstStyle/>
                    <a:p>
                      <a:r>
                        <a:rPr lang="en-GB" sz="1400" b="1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7524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4403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635</Words>
  <Application>Microsoft Office PowerPoint</Application>
  <PresentationFormat>Widescreen</PresentationFormat>
  <Paragraphs>201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NLU precision/recall – sample dialogue</vt:lpstr>
      <vt:lpstr>Turn by turn</vt:lpstr>
      <vt:lpstr>Turn by turn</vt:lpstr>
      <vt:lpstr>Turn by turn</vt:lpstr>
      <vt:lpstr>Turn by turn</vt:lpstr>
      <vt:lpstr>Turn by turn</vt:lpstr>
      <vt:lpstr>Final table</vt:lpstr>
      <vt:lpstr>Computing metrics for intent</vt:lpstr>
      <vt:lpstr>Computing metrics for slots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NLU precision/recall – sample dialogue</dc:title>
  <dc:creator>Mary Ellen Foster</dc:creator>
  <cp:lastModifiedBy>Patricia Natasha Munginga (student)</cp:lastModifiedBy>
  <cp:revision>7</cp:revision>
  <dcterms:created xsi:type="dcterms:W3CDTF">2021-03-11T17:09:39Z</dcterms:created>
  <dcterms:modified xsi:type="dcterms:W3CDTF">2026-02-26T13:13:42Z</dcterms:modified>
</cp:coreProperties>
</file>